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27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75" r:id="rId15"/>
    <p:sldId id="297" r:id="rId16"/>
    <p:sldId id="298" r:id="rId17"/>
    <p:sldId id="284" r:id="rId18"/>
    <p:sldId id="295" r:id="rId19"/>
    <p:sldId id="276" r:id="rId20"/>
    <p:sldId id="296" r:id="rId21"/>
    <p:sldId id="277" r:id="rId22"/>
    <p:sldId id="279" r:id="rId23"/>
    <p:sldId id="278" r:id="rId24"/>
    <p:sldId id="280" r:id="rId25"/>
    <p:sldId id="258" r:id="rId26"/>
    <p:sldId id="269" r:id="rId27"/>
    <p:sldId id="261" r:id="rId28"/>
    <p:sldId id="260" r:id="rId29"/>
    <p:sldId id="270" r:id="rId30"/>
    <p:sldId id="271" r:id="rId31"/>
    <p:sldId id="259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2"/>
    <p:restoredTop sz="94668"/>
  </p:normalViewPr>
  <p:slideViewPr>
    <p:cSldViewPr snapToGrid="0">
      <p:cViewPr varScale="1">
        <p:scale>
          <a:sx n="66" d="100"/>
          <a:sy n="66" d="100"/>
        </p:scale>
        <p:origin x="26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BC704-0D9B-EE48-B9A4-82185D0BB2A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829FA-1A8C-3647-8AC2-25C8E77080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79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966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7A3B28-1530-4F03-826A-0A101626E20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0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5DC80-CAB8-4023-BA89-CC3B514AE3C6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443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284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833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878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01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933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354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29FA-1A8C-3647-8AC2-25C8E77080B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087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12D94-34EB-1756-6A15-94728D273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55B5D9-4C6F-5101-8C44-EAFCA09E3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AAB98F-F571-C182-C79B-9C66633A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09D096-FBA6-DFFC-5CA2-E1D715F2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0DF5B9-9CA8-7F89-5B20-81A23288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49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BC7EF-7933-2C6A-1E4E-0B9AB331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F6B87-50CB-8747-1396-00B53A890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0133ED-4824-0EED-171D-7A013A3F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955B78-1F72-A2A8-6244-C416C10A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DABA51-C506-FF95-1EF9-C537CC7C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958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01C99-F11B-A0ED-3D6D-4A9FB111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F84A78-A469-E567-3D8C-92AC082FE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F82495-D52C-EA56-1EC5-85D4374A1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449BD8-4D80-1B22-1C40-85196713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A73766-4EBB-1034-D94E-FA1D27D8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99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C5489-CDA2-73A3-E816-30089D9F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54224-5793-041D-B669-F2629CEFF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7A277A-C499-58CF-D6E5-00B0FC7F2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E4E8B-CE5F-50E2-04EF-973E82CC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FD8AA6-F101-D37B-BA9A-06C88225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86885A-1979-4971-04D9-0F9E967E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24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D9D6B-2AE5-46DF-A18A-F02D6746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63ED10-0ABA-7EEF-D6ED-980B5C1C4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93FA63-917C-5454-7911-42F9D8DF8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F84A95-C41D-F354-6E54-0F8547280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AF01DE-215B-CFFB-F892-52D236281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77E107A-F6BB-7B33-1351-930E14A2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4F5B6E8-0105-AC31-09AF-6407A3A5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29EBB9-6C2C-7ACB-A0D1-DB80ED5F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90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702C0-2CB3-5A88-FD18-6695DE84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F20C2F-2DAB-2143-A450-58E363C8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AE2EB1-0C1E-3660-0856-2B297734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754111-1BB2-DE41-2193-2A7E39FF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60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348FA0-B2E4-ABCA-F5AD-78E1ACAC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2D9619-9019-0338-0DB2-8C23955F9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4C3CAA-EC6F-3BEE-D2A5-947C36EF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99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4F8B5-71E7-E714-DE06-422FBC90A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10763-4465-5590-1AC7-EDA7B704D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D8FE89-91CD-F200-4EC4-9666490C2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141EF9-8B5F-7979-3E62-F9B7E341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8F0D0C-0DED-F37F-C040-CC1C80A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E7FD2E-2511-1912-4FC9-C3B0921C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3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2DC5D-3F95-5F33-61EF-EA2F248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D250BA-5A87-16D5-1726-8A9053942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EACC0D-CA31-BD70-FD26-2B6ECFE94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224542-0CAB-76BD-395A-A4EC1BCB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ECC947-531C-58BB-7377-AF081B2A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F99741-CBC8-19A9-AB52-77449B9B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05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232F7-B852-D9D0-DB55-15BA6174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C2F1C4-433A-D3BD-F9A7-2F3A76259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525C4-D40B-9688-8A4B-DE6B12B9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F9F717-02FA-3C92-5650-C867F23F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5E5093-1A62-1FC7-BA3A-49349A99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37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CEDAFE-BFAB-FA23-F37C-593EED910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46181E-6FAA-35D3-015D-6F9EA6878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11B29D-2669-0DD5-660C-B41765B4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DA030E-DA17-3B04-253D-744A0DED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441E57-845E-CB81-6621-95A284A2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72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02646-0EBB-8215-6B42-486589C8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25293F-F320-50FC-ADB5-5459BC0F4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8D22DA-391D-5316-8AF5-AE99A3B3F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70C20-6EFA-7047-85A9-F21DC5656E5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B411B2-CD9C-7016-C63D-49EA87BB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6DC790-584A-85B6-27C6-DB41C3710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375F-8FB8-124A-ACDC-96B1A649AE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89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32.userapi.com/impf/c834302/v834302071/174837/ZjYrmv_RK14.jpg?size=1567x1103&amp;quality=96&amp;sign=5ab708d4934afa57f6a6c9a826d03fae&amp;type=alb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64655"/>
            <a:ext cx="12192001" cy="6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783" y="615307"/>
            <a:ext cx="8724525" cy="1232901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РОССИИ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XVII –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первой половине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XVIII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A71547-5C47-B543-A09F-A5E08B372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94" y="5528444"/>
            <a:ext cx="4311721" cy="815850"/>
          </a:xfrm>
        </p:spPr>
        <p:txBody>
          <a:bodyPr>
            <a:normAutofit/>
          </a:bodyPr>
          <a:lstStyle/>
          <a:p>
            <a:pPr algn="l"/>
            <a:endParaRPr lang="ru-RU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44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72"/>
            <a:ext cx="12191999" cy="687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8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s://sun9-28.userapi.com/impf/c836634/v836634149/2bc7c/lrYSUzpVCYE.jpg?size=750x555&amp;quality=96&amp;sign=ce1bb77460fe783497bb0913b63fdcd5&amp;c_uniq_tag=eLURT9ANn_spDmgknTTaLIbEJ-rXHm2AlrlV3IXhf0w&amp;type=album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46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Содержимое 3" descr="род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01" y="0"/>
            <a:ext cx="11064552" cy="684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Патриарх Филарет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188640"/>
            <a:ext cx="45624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63352" y="6093296"/>
            <a:ext cx="47089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Патриарх Филарет. Художник Н. </a:t>
            </a:r>
            <a:r>
              <a:rPr lang="ru-RU" b="1" dirty="0" err="1"/>
              <a:t>Тютрюмов</a:t>
            </a:r>
            <a:r>
              <a:rPr lang="ru-RU" dirty="0"/>
              <a:t> </a:t>
            </a:r>
          </a:p>
        </p:txBody>
      </p:sp>
      <p:pic>
        <p:nvPicPr>
          <p:cNvPr id="3074" name="Picture 2" descr="правление Михаила Федоровича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183" y="188640"/>
            <a:ext cx="6599076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5165075" y="5266542"/>
            <a:ext cx="6599076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400" dirty="0"/>
              <a:t>1619 – 1633 гг. – совместно с патриархом Филаретом. 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Государственные грамоты того времени писались от имени царя и патриарха.</a:t>
            </a:r>
          </a:p>
        </p:txBody>
      </p:sp>
    </p:spTree>
    <p:extLst>
      <p:ext uri="{BB962C8B-B14F-4D97-AF65-F5344CB8AC3E}">
        <p14:creationId xmlns:p14="http://schemas.microsoft.com/office/powerpoint/2010/main" val="277533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092" b="3334"/>
          <a:stretch/>
        </p:blipFill>
        <p:spPr bwMode="auto">
          <a:xfrm>
            <a:off x="623392" y="-17908"/>
            <a:ext cx="10859089" cy="6841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4511824" y="2276872"/>
            <a:ext cx="28803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5231904" y="2636912"/>
            <a:ext cx="151216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8544272" y="4437112"/>
            <a:ext cx="19442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8544272" y="4797152"/>
            <a:ext cx="19442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8112224" y="5085184"/>
            <a:ext cx="14401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821039" y="4725144"/>
            <a:ext cx="3312368" cy="147117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altLang="ru-RU" sz="2800" dirty="0"/>
              <a:t>1614-1615 гг. разгром банд И. </a:t>
            </a:r>
            <a:r>
              <a:rPr lang="ru-RU" altLang="ru-RU" sz="2800" dirty="0" err="1"/>
              <a:t>Заруцкого</a:t>
            </a:r>
            <a:r>
              <a:rPr lang="ru-RU" altLang="ru-RU" sz="2800" dirty="0"/>
              <a:t> и А. Лисовского</a:t>
            </a:r>
          </a:p>
        </p:txBody>
      </p:sp>
    </p:spTree>
    <p:extLst>
      <p:ext uri="{BB962C8B-B14F-4D97-AF65-F5344CB8AC3E}">
        <p14:creationId xmlns:p14="http://schemas.microsoft.com/office/powerpoint/2010/main" val="181480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40016" y="188640"/>
            <a:ext cx="5832648" cy="6480720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sz="2400" b="1" dirty="0"/>
              <a:t>1617 г. - </a:t>
            </a:r>
            <a:r>
              <a:rPr lang="ru-RU" altLang="ru-RU" sz="2400" b="1" dirty="0" err="1"/>
              <a:t>Столбовский</a:t>
            </a:r>
            <a:r>
              <a:rPr lang="ru-RU" altLang="ru-RU" sz="2400" b="1" dirty="0"/>
              <a:t> мир со Швеций.</a:t>
            </a:r>
          </a:p>
          <a:p>
            <a:pPr lvl="1">
              <a:defRPr/>
            </a:pPr>
            <a:r>
              <a:rPr lang="ru-RU" sz="2000" dirty="0"/>
              <a:t>вернули захваченные города: Великий Новгород, Ладога, </a:t>
            </a:r>
            <a:r>
              <a:rPr lang="ru-RU" sz="2000" dirty="0" err="1"/>
              <a:t>Гдов</a:t>
            </a:r>
            <a:r>
              <a:rPr lang="ru-RU" sz="2000" dirty="0"/>
              <a:t>, Порхов, Старая Русса,  </a:t>
            </a:r>
            <a:r>
              <a:rPr lang="ru-RU" sz="2000" dirty="0" err="1"/>
              <a:t>Сумерская</a:t>
            </a:r>
            <a:r>
              <a:rPr lang="ru-RU" sz="2000" dirty="0"/>
              <a:t> область; </a:t>
            </a:r>
          </a:p>
          <a:p>
            <a:pPr lvl="1">
              <a:defRPr/>
            </a:pPr>
            <a:r>
              <a:rPr lang="ru-RU" sz="2000" dirty="0"/>
              <a:t>Передали Швеции: Ивангород, Копорье, Ям, </a:t>
            </a:r>
            <a:r>
              <a:rPr lang="ru-RU" sz="2000" dirty="0" err="1"/>
              <a:t>Корела</a:t>
            </a:r>
            <a:r>
              <a:rPr lang="ru-RU" sz="2000" dirty="0"/>
              <a:t>, Орешек, Нева;</a:t>
            </a:r>
          </a:p>
          <a:p>
            <a:pPr lvl="1">
              <a:defRPr/>
            </a:pPr>
            <a:r>
              <a:rPr lang="ru-RU" altLang="ru-RU" sz="2000" dirty="0"/>
              <a:t>Контрибуция -</a:t>
            </a:r>
            <a:r>
              <a:rPr lang="ru-RU" altLang="ru-RU" sz="2000" b="1" dirty="0"/>
              <a:t> </a:t>
            </a:r>
            <a:r>
              <a:rPr lang="ru-RU" sz="2000" dirty="0"/>
              <a:t>20 тысяч серебряных рублей. </a:t>
            </a:r>
          </a:p>
          <a:p>
            <a:pPr>
              <a:defRPr/>
            </a:pPr>
            <a:endParaRPr lang="ru-RU" altLang="ru-RU" sz="2400" b="1" dirty="0"/>
          </a:p>
          <a:p>
            <a:pPr>
              <a:defRPr/>
            </a:pPr>
            <a:r>
              <a:rPr lang="ru-RU" altLang="ru-RU" sz="2400" b="1" dirty="0"/>
              <a:t>1618 г.  - </a:t>
            </a:r>
            <a:r>
              <a:rPr lang="ru-RU" altLang="ru-RU" sz="2400" b="1" dirty="0" err="1"/>
              <a:t>Деулинское</a:t>
            </a:r>
            <a:r>
              <a:rPr lang="ru-RU" altLang="ru-RU" sz="2400" b="1" dirty="0"/>
              <a:t> перемирие с Речью </a:t>
            </a:r>
            <a:r>
              <a:rPr lang="ru-RU" altLang="ru-RU" sz="2400" b="1" dirty="0" err="1"/>
              <a:t>Посполитой</a:t>
            </a:r>
            <a:endParaRPr lang="ru-RU" altLang="ru-RU" sz="2400" b="1" dirty="0"/>
          </a:p>
          <a:p>
            <a:pPr lvl="1"/>
            <a:r>
              <a:rPr lang="ru-RU" sz="2400" dirty="0"/>
              <a:t>Россия уступала: Рославль, Дорогобуж, Смоленск, </a:t>
            </a:r>
            <a:r>
              <a:rPr lang="ru-RU" sz="2400" dirty="0" err="1"/>
              <a:t>Новгоро</a:t>
            </a:r>
            <a:r>
              <a:rPr lang="ru-RU" sz="2400" dirty="0"/>
              <a:t>-Северский, Чернигов, </a:t>
            </a:r>
            <a:r>
              <a:rPr lang="ru-RU" sz="2400" dirty="0" err="1"/>
              <a:t>Серпейск</a:t>
            </a:r>
            <a:r>
              <a:rPr lang="ru-RU" sz="2400" dirty="0"/>
              <a:t> и другие города. </a:t>
            </a:r>
            <a:endParaRPr lang="ru-RU" sz="2400" b="1" dirty="0"/>
          </a:p>
        </p:txBody>
      </p:sp>
      <p:pic>
        <p:nvPicPr>
          <p:cNvPr id="41988" name="Picture 4" descr="https://i100rik.com.ua/wp-content/uploads/2016/08/Smuta_karta-697x1024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9336" y="38107"/>
            <a:ext cx="6210981" cy="671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i100rik.com.ua/wp-content/uploads/2016/08/Smuta_karta-697x1024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90" y="5301208"/>
            <a:ext cx="5606627" cy="144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1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317258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2728" y="341892"/>
            <a:ext cx="11449272" cy="1484784"/>
          </a:xfrm>
        </p:spPr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 на примирение в разорённой Смутой стране, дальнейшая централизация власти и упорядочение системы государственного управления.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23391" y="1893455"/>
            <a:ext cx="10995953" cy="496454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i="1" dirty="0"/>
              <a:t>Опора на Боярскую Думу и Земские соборы</a:t>
            </a:r>
            <a:r>
              <a:rPr lang="ru-RU" b="1" dirty="0"/>
              <a:t>.</a:t>
            </a:r>
          </a:p>
          <a:p>
            <a:pPr algn="just"/>
            <a:r>
              <a:rPr lang="ru-RU" b="1" dirty="0"/>
              <a:t>Назначение воевод и старост на местах</a:t>
            </a:r>
          </a:p>
          <a:p>
            <a:pPr algn="just"/>
            <a:r>
              <a:rPr lang="ru-RU" b="1" dirty="0"/>
              <a:t>Расширение полномочий выборным земским властям за счёт ограничения власти наместников, то есть ограничение местничества.</a:t>
            </a:r>
          </a:p>
          <a:p>
            <a:pPr algn="just"/>
            <a:r>
              <a:rPr lang="ru-RU" b="1" i="1" dirty="0">
                <a:cs typeface="Times New Roman" pitchFamily="18" charset="0"/>
              </a:rPr>
              <a:t>С целью повышения авторитета центральной власти были введены новые государственные печати, а так же появился новый титул «</a:t>
            </a:r>
            <a:r>
              <a:rPr lang="ru-RU" b="1" i="1" dirty="0" err="1">
                <a:cs typeface="Times New Roman" pitchFamily="18" charset="0"/>
              </a:rPr>
              <a:t>самодержавец</a:t>
            </a:r>
            <a:r>
              <a:rPr lang="ru-RU" b="1" i="1" dirty="0">
                <a:cs typeface="Times New Roman" pitchFamily="18" charset="0"/>
              </a:rPr>
              <a:t>». </a:t>
            </a:r>
          </a:p>
          <a:p>
            <a:pPr algn="just"/>
            <a:r>
              <a:rPr lang="ru-RU" b="1" dirty="0"/>
              <a:t>Была восстановлена и получила дальнейшее развитие приказная система .</a:t>
            </a:r>
          </a:p>
          <a:p>
            <a:pPr algn="just"/>
            <a:r>
              <a:rPr lang="ru-RU" b="1" i="1" dirty="0"/>
              <a:t>1627 г. - указ, разрешающий дворянам передавать землю по наследству с условием службы царю. Таким образом, поместья были приравнены к вотчинам</a:t>
            </a:r>
            <a:r>
              <a:rPr lang="ru-RU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304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629" y="0"/>
            <a:ext cx="12317258" cy="6857999"/>
          </a:xfrm>
          <a:prstGeom prst="rect">
            <a:avLst/>
          </a:prstGeom>
        </p:spPr>
      </p:pic>
      <p:sp>
        <p:nvSpPr>
          <p:cNvPr id="307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228600"/>
            <a:ext cx="8540750" cy="81756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/>
            <a:r>
              <a:rPr lang="ru-RU" sz="3600" b="1" dirty="0"/>
              <a:t>Восстановление экономики</a:t>
            </a: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46479" y="1277217"/>
            <a:ext cx="11725448" cy="5689809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налогов и чрезвычайные сборы. Опись поместных земель.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Приглашение иностранных специалистов (рудознатцев, литейщиков, оружейников) на льготных условиях. В Москве была основана Немецкая слобода, где жили и работали инженеры и иностранные военные. 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1632 г. Андрей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Виниус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основал первые чугуноплавильные, железоделательные и оружейные заводы близ Тулы (первые мануфактуры). 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1632 году в Москве появилось предприятие по обучению бархатному и камчатному делу — Бархатный двор. Центром текстильного производства стала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Кадашевская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слобода с государевым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Хамовным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двором. </a:t>
            </a:r>
            <a:br>
              <a:rPr lang="ru-RU" sz="2400" dirty="0"/>
            </a:br>
            <a:endParaRPr lang="ru-RU" altLang="ru-RU" sz="1600" dirty="0"/>
          </a:p>
        </p:txBody>
      </p:sp>
    </p:spTree>
    <p:extLst>
      <p:ext uri="{BB962C8B-B14F-4D97-AF65-F5344CB8AC3E}">
        <p14:creationId xmlns:p14="http://schemas.microsoft.com/office/powerpoint/2010/main" val="215722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631" y="0"/>
            <a:ext cx="12254631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1735" y="509821"/>
            <a:ext cx="9314778" cy="122981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Реорганизация и укрепление армии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23392" y="1628800"/>
            <a:ext cx="11568608" cy="4965964"/>
          </a:xfrm>
        </p:spPr>
        <p:txBody>
          <a:bodyPr>
            <a:normAutofit/>
          </a:bodyPr>
          <a:lstStyle/>
          <a:p>
            <a:pPr algn="just"/>
            <a:r>
              <a:rPr lang="ru-RU" b="1" i="1" dirty="0"/>
              <a:t>1631—1634 г. — создание полков «нового строя»: </a:t>
            </a:r>
            <a:r>
              <a:rPr lang="ru-RU" b="1" dirty="0"/>
              <a:t>рейтарского (тяжёлая кавалерия), драгунского (</a:t>
            </a:r>
            <a:r>
              <a:rPr lang="ru-RU" b="1"/>
              <a:t>лёгкая кавалерия</a:t>
            </a:r>
            <a:r>
              <a:rPr lang="ru-RU" b="1" dirty="0"/>
              <a:t>, способна действовать и пешими), солдатского.</a:t>
            </a:r>
          </a:p>
          <a:p>
            <a:pPr algn="just"/>
            <a:r>
              <a:rPr lang="ru-RU" b="1" dirty="0"/>
              <a:t> Состояли из  «охочих вольных» людей  и беспоместных детей бояр, офицерами были иноземные специалисты. Позже возникли кавалерийские драгунские полки для охраны юга страны.</a:t>
            </a:r>
          </a:p>
          <a:p>
            <a:pPr marL="0" indent="0" algn="just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Это был первый важный шаг к созданию регулярного национального войска в России.</a:t>
            </a:r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62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8061" y="140825"/>
            <a:ext cx="8540750" cy="62833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>
              <a:lnSpc>
                <a:spcPct val="75000"/>
              </a:lnSpc>
              <a:defRPr/>
            </a:pPr>
            <a:r>
              <a:rPr lang="ru-RU" alt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Внешняя политика</a:t>
            </a:r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4439816" y="1063627"/>
            <a:ext cx="3960813" cy="1152525"/>
          </a:xfrm>
          <a:prstGeom prst="ribbon">
            <a:avLst>
              <a:gd name="adj1" fmla="val 22157"/>
              <a:gd name="adj2" fmla="val 68741"/>
            </a:avLst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/>
              <a:t>Смоленская война</a:t>
            </a:r>
          </a:p>
          <a:p>
            <a:pPr algn="ctr" eaLnBrk="1" hangingPunct="1">
              <a:defRPr/>
            </a:pPr>
            <a:r>
              <a:rPr lang="ru-RU" altLang="ru-RU" sz="2000" b="1" dirty="0"/>
              <a:t>1632-1634 гг.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46186" y="858894"/>
            <a:ext cx="3805598" cy="156199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400" dirty="0"/>
              <a:t>1632 г. </a:t>
            </a:r>
          </a:p>
          <a:p>
            <a:pPr algn="ctr" eaLnBrk="1" hangingPunct="1">
              <a:defRPr/>
            </a:pPr>
            <a:r>
              <a:rPr lang="ru-RU" altLang="ru-RU" sz="2400" dirty="0"/>
              <a:t>Истек срок </a:t>
            </a:r>
          </a:p>
          <a:p>
            <a:pPr algn="ctr" eaLnBrk="1" hangingPunct="1">
              <a:defRPr/>
            </a:pPr>
            <a:r>
              <a:rPr lang="ru-RU" altLang="ru-RU" sz="2400" dirty="0" err="1"/>
              <a:t>Деулинского</a:t>
            </a:r>
            <a:r>
              <a:rPr lang="ru-RU" altLang="ru-RU" sz="2400" dirty="0"/>
              <a:t> перемирия. </a:t>
            </a:r>
          </a:p>
          <a:p>
            <a:pPr algn="ctr" eaLnBrk="1" hangingPunct="1">
              <a:defRPr/>
            </a:pPr>
            <a:r>
              <a:rPr lang="ru-RU" altLang="ru-RU" sz="2400" dirty="0"/>
              <a:t>Смерть Сигизмунда </a:t>
            </a:r>
            <a:r>
              <a:rPr lang="en-US" altLang="ru-RU" sz="2400" dirty="0"/>
              <a:t>III</a:t>
            </a:r>
            <a:r>
              <a:rPr lang="ru-RU" altLang="ru-RU" sz="2400" dirty="0"/>
              <a:t> </a:t>
            </a:r>
          </a:p>
        </p:txBody>
      </p:sp>
      <p:sp>
        <p:nvSpPr>
          <p:cNvPr id="28681" name="AutoShape 9"/>
          <p:cNvSpPr>
            <a:spLocks noChangeArrowheads="1"/>
          </p:cNvSpPr>
          <p:nvPr/>
        </p:nvSpPr>
        <p:spPr bwMode="auto">
          <a:xfrm>
            <a:off x="7985806" y="911744"/>
            <a:ext cx="4176713" cy="576263"/>
          </a:xfrm>
          <a:prstGeom prst="flowChartInputOutput">
            <a:avLst/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/>
              <a:t>Цель – вернуть Смоленск</a:t>
            </a:r>
          </a:p>
        </p:txBody>
      </p:sp>
      <p:sp>
        <p:nvSpPr>
          <p:cNvPr id="28683" name="AutoShape 11"/>
          <p:cNvSpPr>
            <a:spLocks noChangeArrowheads="1"/>
          </p:cNvSpPr>
          <p:nvPr/>
        </p:nvSpPr>
        <p:spPr bwMode="auto">
          <a:xfrm flipH="1">
            <a:off x="412779" y="2564904"/>
            <a:ext cx="5123023" cy="1296144"/>
          </a:xfrm>
          <a:prstGeom prst="leftArrow">
            <a:avLst>
              <a:gd name="adj1" fmla="val 58426"/>
              <a:gd name="adj2" fmla="val 122367"/>
            </a:avLst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dirty="0"/>
              <a:t>Неудачная осада Смоленска</a:t>
            </a:r>
          </a:p>
          <a:p>
            <a:pPr algn="ctr" eaLnBrk="1" hangingPunct="1">
              <a:defRPr/>
            </a:pPr>
            <a:r>
              <a:rPr lang="ru-RU" altLang="ru-RU" sz="2000" dirty="0"/>
              <a:t>8 мес.</a:t>
            </a: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412779" y="4144297"/>
            <a:ext cx="5256212" cy="2093015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r>
              <a:rPr lang="ru-RU" altLang="ru-RU" sz="2400" b="1"/>
              <a:t>Поляновский мир 1634 г.</a:t>
            </a:r>
          </a:p>
          <a:p>
            <a:pPr algn="ctr" eaLnBrk="1" hangingPunct="1">
              <a:lnSpc>
                <a:spcPct val="85000"/>
              </a:lnSpc>
              <a:defRPr/>
            </a:pPr>
            <a:r>
              <a:rPr lang="ru-RU" altLang="ru-RU" sz="2400"/>
              <a:t>Получили только Серпейск.</a:t>
            </a:r>
          </a:p>
          <a:p>
            <a:pPr algn="ctr" eaLnBrk="1" hangingPunct="1">
              <a:lnSpc>
                <a:spcPct val="85000"/>
              </a:lnSpc>
              <a:defRPr/>
            </a:pPr>
            <a:r>
              <a:rPr lang="ru-RU" altLang="ru-RU" sz="2400"/>
              <a:t>Владислав отказался от своих</a:t>
            </a:r>
          </a:p>
          <a:p>
            <a:pPr algn="ctr" eaLnBrk="1" hangingPunct="1">
              <a:lnSpc>
                <a:spcPct val="85000"/>
              </a:lnSpc>
              <a:defRPr/>
            </a:pPr>
            <a:r>
              <a:rPr lang="ru-RU" altLang="ru-RU" sz="2400"/>
              <a:t>притязаний на московский трон.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6530109" y="2368035"/>
            <a:ext cx="4710545" cy="4224082"/>
            <a:chOff x="8760296" y="1750305"/>
            <a:chExt cx="3085705" cy="4224082"/>
          </a:xfrm>
        </p:grpSpPr>
        <p:pic>
          <p:nvPicPr>
            <p:cNvPr id="10242" name="Picture 2" descr="http://slavyanskaya-kultura.ru/upload/wysiwyg/e3ed4e35c01080b5c04ebfc48b417636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0296" y="1750305"/>
              <a:ext cx="3085705" cy="4221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Прямоугольник 2"/>
            <p:cNvSpPr/>
            <p:nvPr/>
          </p:nvSpPr>
          <p:spPr>
            <a:xfrm>
              <a:off x="9764883" y="5512722"/>
              <a:ext cx="1076530" cy="461665"/>
            </a:xfrm>
            <a:prstGeom prst="rect">
              <a:avLst/>
            </a:prstGeom>
            <a:solidFill>
              <a:schemeClr val="accent5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М.Б. Шеин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792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nimBg="1"/>
      <p:bldP spid="28679" grpId="0" animBg="1"/>
      <p:bldP spid="28681" grpId="0" animBg="1"/>
      <p:bldP spid="28683" grpId="0" animBg="1"/>
      <p:bldP spid="286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237"/>
            <a:ext cx="12254631" cy="6848764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2095472" y="142852"/>
            <a:ext cx="8096307" cy="6218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Освоение Сибири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07368" y="764704"/>
            <a:ext cx="11305256" cy="164307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XVII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век отмечен проникновением русских землепроходцев в отдаленные места Сибири. Земли Сибири на территории 13 млн. кв.км  были населены разными народами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923935"/>
              </p:ext>
            </p:extLst>
          </p:nvPr>
        </p:nvGraphicFramePr>
        <p:xfrm>
          <a:off x="335360" y="2636912"/>
          <a:ext cx="11239578" cy="33223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33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78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Название народа и племени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Регион расселения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83">
                <a:tc>
                  <a:txBody>
                    <a:bodyPr/>
                    <a:lstStyle/>
                    <a:p>
                      <a:r>
                        <a:rPr lang="ru-RU" sz="2000" dirty="0"/>
                        <a:t>Ненцы</a:t>
                      </a:r>
                    </a:p>
                    <a:p>
                      <a:r>
                        <a:rPr lang="ru-RU" sz="2000" dirty="0"/>
                        <a:t>Эвенки (тунгусы)</a:t>
                      </a:r>
                    </a:p>
                    <a:p>
                      <a:r>
                        <a:rPr lang="ru-RU" sz="2000" dirty="0"/>
                        <a:t>Ханты (остяки)</a:t>
                      </a:r>
                    </a:p>
                    <a:p>
                      <a:r>
                        <a:rPr lang="ru-RU" sz="2000" dirty="0"/>
                        <a:t>Якуты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Районы тундры (по берегам рек Оби, Енисея)</a:t>
                      </a:r>
                    </a:p>
                    <a:p>
                      <a:r>
                        <a:rPr lang="ru-RU" sz="2000" dirty="0"/>
                        <a:t>От Енисея до Тихого океана</a:t>
                      </a:r>
                    </a:p>
                    <a:p>
                      <a:r>
                        <a:rPr lang="ru-RU" sz="2000" dirty="0"/>
                        <a:t>По берегам Оби и ее притокам</a:t>
                      </a:r>
                    </a:p>
                    <a:p>
                      <a:r>
                        <a:rPr lang="ru-RU" sz="2000" dirty="0"/>
                        <a:t>Бассейны реки Лены и всех ее притоков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3">
                <a:tc>
                  <a:txBody>
                    <a:bodyPr/>
                    <a:lstStyle/>
                    <a:p>
                      <a:r>
                        <a:rPr lang="ru-RU" sz="2000" dirty="0"/>
                        <a:t>Буряты и монголы</a:t>
                      </a:r>
                    </a:p>
                    <a:p>
                      <a:r>
                        <a:rPr lang="ru-RU" sz="2000" dirty="0"/>
                        <a:t>Чукчи, коряки</a:t>
                      </a:r>
                    </a:p>
                    <a:p>
                      <a:r>
                        <a:rPr lang="ru-RU" sz="2000" dirty="0"/>
                        <a:t>Нивхи</a:t>
                      </a:r>
                    </a:p>
                    <a:p>
                      <a:r>
                        <a:rPr lang="ru-RU" sz="2000" dirty="0"/>
                        <a:t>Айни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Прибайкалье</a:t>
                      </a:r>
                    </a:p>
                    <a:p>
                      <a:r>
                        <a:rPr lang="ru-RU" sz="2000" dirty="0"/>
                        <a:t>Чукотский полуостров, побережье Берингова пролива</a:t>
                      </a:r>
                    </a:p>
                    <a:p>
                      <a:r>
                        <a:rPr lang="ru-RU" sz="2000" dirty="0"/>
                        <a:t>Приамурье, Сахалин</a:t>
                      </a:r>
                    </a:p>
                    <a:p>
                      <a:r>
                        <a:rPr lang="ru-RU" sz="2000" dirty="0"/>
                        <a:t>Курильские о-ва, юг</a:t>
                      </a:r>
                      <a:r>
                        <a:rPr lang="ru-RU" sz="2000" baseline="0" dirty="0"/>
                        <a:t> Камчатки, Сахалин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670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629" y="0"/>
            <a:ext cx="12317258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/>
          <a:lstStyle/>
          <a:p>
            <a:pPr algn="ctr"/>
            <a:r>
              <a:rPr lang="ru-RU" sz="4000" b="1" dirty="0"/>
              <a:t>Итоги правления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62629" y="1196752"/>
            <a:ext cx="12317257" cy="5661248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2400" b="1" dirty="0"/>
              <a:t>Заключение «вечного мира» со Швецией (</a:t>
            </a:r>
            <a:r>
              <a:rPr lang="ru-RU" sz="2400" b="1" dirty="0" err="1"/>
              <a:t>Столбовский</a:t>
            </a:r>
            <a:r>
              <a:rPr lang="ru-RU" sz="2400" b="1" dirty="0"/>
              <a:t> мир 1617 г.). </a:t>
            </a:r>
            <a:r>
              <a:rPr lang="ru-RU" sz="2400" b="1" dirty="0" err="1"/>
              <a:t>Деулинского</a:t>
            </a:r>
            <a:r>
              <a:rPr lang="ru-RU" sz="2400" b="1" dirty="0"/>
              <a:t> перемирия (1618 г.), а затем «вечного мира» с Польшей (</a:t>
            </a:r>
            <a:r>
              <a:rPr lang="ru-RU" sz="2400" b="1" dirty="0" err="1"/>
              <a:t>Поляновский</a:t>
            </a:r>
            <a:r>
              <a:rPr lang="ru-RU" sz="2400" b="1" dirty="0"/>
              <a:t> мир 1634 г.). </a:t>
            </a:r>
          </a:p>
          <a:p>
            <a:r>
              <a:rPr lang="ru-RU" sz="2400" b="1" dirty="0"/>
              <a:t>Установление прочной централизованной власти на всей территории страны посредством назначения воевод и старост на местах. </a:t>
            </a:r>
          </a:p>
          <a:p>
            <a:r>
              <a:rPr lang="ru-RU" sz="2400" b="1" dirty="0"/>
              <a:t>Преодоление тяжелейших последствий Смутного времени, восстановление нормального хозяйства и торговли. </a:t>
            </a:r>
            <a:br>
              <a:rPr lang="ru-RU" sz="2400" b="1" dirty="0"/>
            </a:br>
            <a:r>
              <a:rPr lang="ru-RU" sz="2400" b="1" dirty="0"/>
              <a:t>Присоединения к России нижнего Урала (Яицкие казаки), Прибайкалья, Якутии и Чукотки, выход к Тихому океану. </a:t>
            </a:r>
          </a:p>
          <a:p>
            <a:r>
              <a:rPr lang="ru-RU" sz="2400" b="1" dirty="0"/>
              <a:t>Реорганизация армии (1631—1634 гг.). Создание полков «нового строя»: рейтарского, драгунского, солдатского. </a:t>
            </a:r>
          </a:p>
          <a:p>
            <a:r>
              <a:rPr lang="ru-RU" sz="2400" b="1" dirty="0"/>
              <a:t>Основание первого железоделательного завода под Тулой (1632 г.). </a:t>
            </a:r>
          </a:p>
          <a:p>
            <a:r>
              <a:rPr lang="ru-RU" sz="2400" b="1" dirty="0"/>
              <a:t>Основание Немецкой слободы в Москве - поселения иностранных инженеров и военных специалистов. Менее чем через 100 лет многие жители «Кукуя» сыграют ключевую роль в реформах Петра I Великого.</a:t>
            </a:r>
          </a:p>
        </p:txBody>
      </p:sp>
    </p:spTree>
    <p:extLst>
      <p:ext uri="{BB962C8B-B14F-4D97-AF65-F5344CB8AC3E}">
        <p14:creationId xmlns:p14="http://schemas.microsoft.com/office/powerpoint/2010/main" val="212976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477000" y="2561503"/>
            <a:ext cx="5181600" cy="1684194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ru-RU" dirty="0"/>
              <a:t>В июле 1645 г. умер царь Михаил. На престол взошёл его сын Алексей Михайлович</a:t>
            </a:r>
          </a:p>
          <a:p>
            <a:endParaRPr lang="ru-RU" dirty="0"/>
          </a:p>
        </p:txBody>
      </p:sp>
      <p:pic>
        <p:nvPicPr>
          <p:cNvPr id="14338" name="Picture 2" descr="https://i.pinimg.com/736x/4d/00/88/4d00884e46306132afdcfc78a16aaed1--anonymous-russia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45" y="415636"/>
            <a:ext cx="5159282" cy="59759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079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auto">
          <a:xfrm>
            <a:off x="1524000" y="0"/>
            <a:ext cx="9144000" cy="1557338"/>
          </a:xfrm>
          <a:prstGeom prst="bevel">
            <a:avLst>
              <a:gd name="adj" fmla="val 12500"/>
            </a:avLst>
          </a:prstGeom>
          <a:solidFill>
            <a:schemeClr val="bg1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3600" b="1">
                <a:solidFill>
                  <a:srgbClr val="CC0000"/>
                </a:solidFill>
              </a:rPr>
              <a:t>Сословно-представительная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3600" b="1">
                <a:solidFill>
                  <a:srgbClr val="CC0000"/>
                </a:solidFill>
              </a:rPr>
              <a:t>монархия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6024564" y="1557339"/>
            <a:ext cx="1062037" cy="5032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3" name="AutoShape 5"/>
          <p:cNvSpPr>
            <a:spLocks noChangeArrowheads="1"/>
          </p:cNvSpPr>
          <p:nvPr/>
        </p:nvSpPr>
        <p:spPr bwMode="auto">
          <a:xfrm>
            <a:off x="4835526" y="2133600"/>
            <a:ext cx="5832475" cy="863600"/>
          </a:xfrm>
          <a:prstGeom prst="bevel">
            <a:avLst>
              <a:gd name="adj" fmla="val 12500"/>
            </a:avLst>
          </a:prstGeom>
          <a:solidFill>
            <a:schemeClr val="bg1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4000" b="1">
                <a:solidFill>
                  <a:srgbClr val="CC0000"/>
                </a:solidFill>
              </a:rPr>
              <a:t>Самодержавие</a:t>
            </a:r>
          </a:p>
        </p:txBody>
      </p:sp>
      <p:sp>
        <p:nvSpPr>
          <p:cNvPr id="27654" name="AutoShape 6"/>
          <p:cNvSpPr>
            <a:spLocks/>
          </p:cNvSpPr>
          <p:nvPr/>
        </p:nvSpPr>
        <p:spPr bwMode="auto">
          <a:xfrm>
            <a:off x="5087939" y="3284539"/>
            <a:ext cx="5184775" cy="2987675"/>
          </a:xfrm>
          <a:prstGeom prst="borderCallout3">
            <a:avLst>
              <a:gd name="adj1" fmla="val 3375"/>
              <a:gd name="adj2" fmla="val 100898"/>
              <a:gd name="adj3" fmla="val 3630"/>
              <a:gd name="adj4" fmla="val 100338"/>
              <a:gd name="adj5" fmla="val 3347"/>
              <a:gd name="adj6" fmla="val 100134"/>
              <a:gd name="adj7" fmla="val 4157"/>
              <a:gd name="adj8" fmla="val 100412"/>
            </a:avLst>
          </a:prstGeom>
          <a:solidFill>
            <a:schemeClr val="bg1"/>
          </a:solidFill>
          <a:ln w="5715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800" b="1">
                <a:solidFill>
                  <a:srgbClr val="000099"/>
                </a:solidFill>
              </a:rPr>
              <a:t>Снижается </a:t>
            </a:r>
            <a:r>
              <a:rPr lang="en-US" altLang="ru-RU" sz="2800" b="1">
                <a:solidFill>
                  <a:srgbClr val="000099"/>
                </a:solidFill>
              </a:rPr>
              <a:t>роль</a:t>
            </a:r>
            <a:r>
              <a:rPr lang="ru-RU" altLang="ru-RU" sz="2800" b="1">
                <a:solidFill>
                  <a:srgbClr val="000099"/>
                </a:solidFill>
              </a:rPr>
              <a:t> Земских соборов (последний созыв – 1653 г.)</a:t>
            </a:r>
            <a:endParaRPr lang="en-US" altLang="ru-RU" sz="2800" b="1">
              <a:solidFill>
                <a:srgbClr val="000099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800" b="1">
                <a:solidFill>
                  <a:srgbClr val="000099"/>
                </a:solidFill>
              </a:rPr>
              <a:t>Ц</a:t>
            </a:r>
            <a:r>
              <a:rPr lang="en-US" altLang="ru-RU" sz="2800" b="1">
                <a:solidFill>
                  <a:srgbClr val="000099"/>
                </a:solidFill>
              </a:rPr>
              <a:t>арь опирался не на представителей сословий, а на чиновников и армию.</a:t>
            </a:r>
            <a:endParaRPr lang="ru-RU" altLang="ru-RU" sz="2800" b="1">
              <a:solidFill>
                <a:srgbClr val="000099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ru-RU" altLang="ru-RU" sz="2800" b="1">
              <a:solidFill>
                <a:srgbClr val="000099"/>
              </a:solidFill>
            </a:endParaRPr>
          </a:p>
        </p:txBody>
      </p: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892" y="2187720"/>
            <a:ext cx="3000375" cy="4005262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592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nimBg="1"/>
      <p:bldP spid="27653" grpId="0" animBg="1"/>
      <p:bldP spid="2765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7"/>
            <a:ext cx="12254631" cy="6848764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48494" y="72447"/>
            <a:ext cx="10515600" cy="1093355"/>
          </a:xfrm>
        </p:spPr>
        <p:txBody>
          <a:bodyPr/>
          <a:lstStyle/>
          <a:p>
            <a:pPr algn="ctr" eaLnBrk="1" hangingPunct="1"/>
            <a:r>
              <a:rPr lang="ru-RU" altLang="ru-RU" b="1" dirty="0"/>
              <a:t>Политический строй</a:t>
            </a:r>
          </a:p>
        </p:txBody>
      </p:sp>
      <p:sp>
        <p:nvSpPr>
          <p:cNvPr id="14339" name="AutoShape 4"/>
          <p:cNvSpPr>
            <a:spLocks noChangeArrowheads="1"/>
          </p:cNvSpPr>
          <p:nvPr/>
        </p:nvSpPr>
        <p:spPr bwMode="auto">
          <a:xfrm>
            <a:off x="3937001" y="1075893"/>
            <a:ext cx="3816350" cy="863600"/>
          </a:xfrm>
          <a:prstGeom prst="bevel">
            <a:avLst>
              <a:gd name="adj" fmla="val 125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b="1" dirty="0"/>
              <a:t>Сословно-представительная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b="1" dirty="0"/>
              <a:t>монархия</a:t>
            </a:r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5314157" y="2070173"/>
            <a:ext cx="1062038" cy="5032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9463" name="AutoShape 7"/>
          <p:cNvSpPr>
            <a:spLocks noChangeArrowheads="1"/>
          </p:cNvSpPr>
          <p:nvPr/>
        </p:nvSpPr>
        <p:spPr bwMode="auto">
          <a:xfrm>
            <a:off x="4008438" y="2704090"/>
            <a:ext cx="3673475" cy="792163"/>
          </a:xfrm>
          <a:prstGeom prst="bevel">
            <a:avLst>
              <a:gd name="adj" fmla="val 125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b="1" dirty="0"/>
              <a:t>Абсолютная монархия</a:t>
            </a:r>
          </a:p>
        </p:txBody>
      </p:sp>
      <p:sp>
        <p:nvSpPr>
          <p:cNvPr id="19464" name="AutoShape 8"/>
          <p:cNvSpPr>
            <a:spLocks/>
          </p:cNvSpPr>
          <p:nvPr/>
        </p:nvSpPr>
        <p:spPr bwMode="auto">
          <a:xfrm>
            <a:off x="346769" y="3626428"/>
            <a:ext cx="11314545" cy="3101398"/>
          </a:xfrm>
          <a:prstGeom prst="borderCallout3">
            <a:avLst>
              <a:gd name="adj1" fmla="val 4810"/>
              <a:gd name="adj2" fmla="val 101019"/>
              <a:gd name="adj3" fmla="val 4810"/>
              <a:gd name="adj4" fmla="val 104620"/>
              <a:gd name="adj5" fmla="val -36741"/>
              <a:gd name="adj6" fmla="val 104620"/>
              <a:gd name="adj7" fmla="val -59205"/>
              <a:gd name="adj8" fmla="val 6429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В царский титул включается слово «самодержец»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Снижается значение Земских соборов (последний созыв – 1653 г.)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Меняется роль и состав Боярской думы (указы царя без «приговора» бояр, увеличение доли дворян и дьяков)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Расцветают приказы – органы центральной исполнительной власти (всего 55); на местах власть перешла к воеводам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 Тайный приказ (политическая полиция)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Началось создание регулярной армии (полки «нового строя»)</a:t>
            </a:r>
          </a:p>
        </p:txBody>
      </p:sp>
    </p:spTree>
    <p:extLst>
      <p:ext uri="{BB962C8B-B14F-4D97-AF65-F5344CB8AC3E}">
        <p14:creationId xmlns:p14="http://schemas.microsoft.com/office/powerpoint/2010/main" val="421635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animBg="1"/>
      <p:bldP spid="19463" grpId="0" animBg="1"/>
      <p:bldP spid="194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sun9-14.userapi.com/impg/ZpeMPkWwSbNmv2jh3xQNsnMUlv3WvnioB77F3Q/0dsM-eKE54Q.jpg?size=800x568&amp;quality=95&amp;sign=62ea91997fe7ab33524a5a7993be1c42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72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307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012760"/>
              </p:ext>
            </p:extLst>
          </p:nvPr>
        </p:nvGraphicFramePr>
        <p:xfrm>
          <a:off x="544946" y="846825"/>
          <a:ext cx="11249889" cy="5819734"/>
        </p:xfrm>
        <a:graphic>
          <a:graphicData uri="http://schemas.openxmlformats.org/drawingml/2006/table">
            <a:tbl>
              <a:tblPr/>
              <a:tblGrid>
                <a:gridCol w="9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3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Годы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Правители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Документы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Положения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1497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ван III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Судебник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Ограничение перехода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крестьян от одного помещика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другому в Юрьев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день, заплатив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“пожилое”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1550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 IV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Судебник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Увеличение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“пожилого”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1581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IV</a:t>
                      </a:r>
                      <a:endParaRPr kumimoji="0" 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Указ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заповедных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летах</a:t>
                      </a:r>
                      <a:endParaRPr kumimoji="0" 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Отмена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Юрьева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дня</a:t>
                      </a:r>
                      <a:endParaRPr kumimoji="0" 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1597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Федор Иванович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Указ об урочных летах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Введение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5-летнего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срока сыска беглых крестьян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1607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Василий Шуйский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ведение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15-летнего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срока сыска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беглых крестьян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1637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Михаил Федорович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Введение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9-летнего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срока сыска беглых крестьян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5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1641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Михаил Федорович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Введение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 и 15-летнего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срока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сыска беглых </a:t>
                      </a: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крестьян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0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1649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Алексей Михайлович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Соборное уложение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Введение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бессрочного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сыска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беглых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крестьян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окончательное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прикрепление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крестьян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земле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 </a:t>
                      </a: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помещику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kumimoji="0" 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172219" y="-76505"/>
            <a:ext cx="96720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Процесс закрепощение на Руси</a:t>
            </a:r>
          </a:p>
        </p:txBody>
      </p:sp>
    </p:spTree>
    <p:extLst>
      <p:ext uri="{BB962C8B-B14F-4D97-AF65-F5344CB8AC3E}">
        <p14:creationId xmlns:p14="http://schemas.microsoft.com/office/powerpoint/2010/main" val="2973959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7"/>
            <a:ext cx="12254631" cy="6848764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009899" y="291235"/>
            <a:ext cx="6172200" cy="82636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dirty="0"/>
              <a:t>«Соборное уложение»</a:t>
            </a:r>
          </a:p>
        </p:txBody>
      </p:sp>
      <p:pic>
        <p:nvPicPr>
          <p:cNvPr id="15362" name="Picture 2" descr="https://bibliotekar.ru/sobornoe-ulozhenie-1649/index2.files/image00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37" y="1265381"/>
            <a:ext cx="9402618" cy="52185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682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9936" y="274638"/>
            <a:ext cx="4690864" cy="1143000"/>
          </a:xfrm>
          <a:ln>
            <a:miter lim="800000"/>
            <a:headEnd/>
            <a:tailEnd/>
          </a:ln>
        </p:spPr>
        <p:txBody>
          <a:bodyPr>
            <a:normAutofit fontScale="90000"/>
            <a:scene3d>
              <a:camera prst="orthographicFront"/>
              <a:lightRig rig="soft" dir="t">
                <a:rot lat="0" lon="0" rev="2400000"/>
              </a:lightRig>
            </a:scene3d>
          </a:bodyPr>
          <a:lstStyle/>
          <a:p>
            <a:pPr marL="54864">
              <a:defRPr/>
            </a:pPr>
            <a:r>
              <a:rPr lang="ru-RU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Соборное Уложение 1649г.</a:t>
            </a:r>
          </a:p>
        </p:txBody>
      </p:sp>
      <p:pic>
        <p:nvPicPr>
          <p:cNvPr id="11267" name="Picture 2" descr="C:\Users\USER\Desktop\250px-Sobornoe_Ulozheni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40671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 descr="C:\Users\USER\Desktop\1649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1412876"/>
            <a:ext cx="5003800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 descr="C:\Users\USER\Desktop\05234174856191da766b6b32a8150c3f_420_0_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9144000" cy="703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9217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cf2.ppt-online.org/files2/slide/a/A1mX0pqlM6tF7CLWyVedYJsRNBa8OZhvkfcSPEK24/slide-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843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418" y="365125"/>
            <a:ext cx="5181601" cy="1325563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ru-RU" dirty="0"/>
              <a:t>«</a:t>
            </a:r>
            <a:r>
              <a:rPr lang="ru-RU" dirty="0" err="1"/>
              <a:t>Переяславская</a:t>
            </a:r>
            <a:r>
              <a:rPr lang="ru-RU" dirty="0"/>
              <a:t> рада»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82418" y="1825624"/>
            <a:ext cx="5181600" cy="473219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8 января 1654 г. представители украинского народа, собравшиеся на Раду (Совет) в </a:t>
            </a:r>
            <a:r>
              <a:rPr lang="ru-RU" dirty="0" err="1"/>
              <a:t>Переяславле</a:t>
            </a:r>
            <a:r>
              <a:rPr lang="ru-RU" dirty="0"/>
              <a:t> Южном, приняли решение о вхождении в состав Московского государства</a:t>
            </a:r>
          </a:p>
        </p:txBody>
      </p:sp>
      <p:pic>
        <p:nvPicPr>
          <p:cNvPr id="18434" name="Picture 2" descr="https://i.ytimg.com/vi/uUcIULEi1F8/maxresdefault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346" y="365125"/>
            <a:ext cx="6211634" cy="6192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753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80777" y="416217"/>
            <a:ext cx="4703618" cy="81713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Церковный раскол</a:t>
            </a:r>
          </a:p>
        </p:txBody>
      </p:sp>
      <p:pic>
        <p:nvPicPr>
          <p:cNvPr id="17410" name="Picture 2" descr="https://avatars.dzeninfra.ru/get-zen_doc/3373607/pub_5ec14e34d54088764522f29e_5ecfeea318bbe33b78f35770/scale_120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09" y="429781"/>
            <a:ext cx="5119255" cy="51077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24154" y="1542473"/>
            <a:ext cx="5616864" cy="483209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церковной реформы началось в 1652 г.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1654 г. церковный собор по требованию Никона одобрил принятые им меры.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1656 г. на соборе всех сторонников старых русских обрядов отлучили от церкви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Церковный собор 1666 - 1667 гг. проклял всех противников реформы.</a:t>
            </a:r>
          </a:p>
        </p:txBody>
      </p:sp>
    </p:spTree>
    <p:extLst>
      <p:ext uri="{BB962C8B-B14F-4D97-AF65-F5344CB8AC3E}">
        <p14:creationId xmlns:p14="http://schemas.microsoft.com/office/powerpoint/2010/main" val="4178385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655" y="9237"/>
            <a:ext cx="12319286" cy="6848764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281999"/>
            <a:ext cx="10515600" cy="7801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Фёдор Алексеевич (1676 – 1682 гг.)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094988" y="2710873"/>
            <a:ext cx="5181600" cy="213360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смерти Алексея Михайловича январе 1676 г. царём стал его сын Федор, которому на тот момент было 14 лет.</a:t>
            </a:r>
          </a:p>
        </p:txBody>
      </p:sp>
      <p:pic>
        <p:nvPicPr>
          <p:cNvPr id="1026" name="Picture 2" descr="https://politika-v-rashke.ru/wp-content/uploads/2018/09/TSar-Fyodor-Alekseevich-Romanov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57" y="1244602"/>
            <a:ext cx="4932219" cy="54309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147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616541" cy="678096"/>
          </a:xfrm>
        </p:spPr>
        <p:txBody>
          <a:bodyPr>
            <a:normAutofit/>
          </a:bodyPr>
          <a:lstStyle/>
          <a:p>
            <a:pPr algn="l"/>
            <a:r>
              <a:rPr lang="ru-RU" sz="4000" b="1" dirty="0">
                <a:latin typeface="PT Serif" panose="020A0603040505020204" pitchFamily="18" charset="0"/>
              </a:rPr>
              <a:t>ВОЦАРЕНИЕ ПЕТРА </a:t>
            </a:r>
            <a:r>
              <a:rPr lang="en-US" sz="4000" b="1" dirty="0">
                <a:latin typeface="PT Serif" panose="020A0603040505020204" pitchFamily="18" charset="0"/>
              </a:rPr>
              <a:t>I</a:t>
            </a:r>
            <a:endParaRPr lang="ru-RU" sz="4000" b="1" dirty="0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75A3E-5FE2-7703-9502-2225E96EA5F1}"/>
              </a:ext>
            </a:extLst>
          </p:cNvPr>
          <p:cNvSpPr txBox="1"/>
          <p:nvPr/>
        </p:nvSpPr>
        <p:spPr>
          <a:xfrm>
            <a:off x="373293" y="1289406"/>
            <a:ext cx="59787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1666 – рождение Ивана Алексеевича</a:t>
            </a:r>
          </a:p>
          <a:p>
            <a:r>
              <a:rPr lang="ru-RU" dirty="0">
                <a:latin typeface="PT Serif" panose="020A0603040505020204" pitchFamily="18" charset="0"/>
              </a:rPr>
              <a:t>Отец – Алексей Михайлович</a:t>
            </a:r>
          </a:p>
          <a:p>
            <a:r>
              <a:rPr lang="ru-RU" dirty="0">
                <a:latin typeface="PT Serif" panose="020A0603040505020204" pitchFamily="18" charset="0"/>
              </a:rPr>
              <a:t>Мать –  Мария Ильинична Милославская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1672 – рождение Петра Алексеевича</a:t>
            </a:r>
          </a:p>
          <a:p>
            <a:r>
              <a:rPr lang="ru-RU" dirty="0">
                <a:latin typeface="PT Serif" panose="020A0603040505020204" pitchFamily="18" charset="0"/>
              </a:rPr>
              <a:t>Отец – Алексей Михайлович</a:t>
            </a:r>
          </a:p>
          <a:p>
            <a:r>
              <a:rPr lang="ru-RU" dirty="0">
                <a:latin typeface="PT Serif" panose="020A0603040505020204" pitchFamily="18" charset="0"/>
              </a:rPr>
              <a:t>Мать – Наталья Кирилловна Нарышкина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1682 – кончина Федора Алексеевича (бездетный)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1682 – Стрелецкий бунт («Хованщина»)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1682-1689 – регентство царевны Софьи Алексеевны</a:t>
            </a:r>
          </a:p>
          <a:p>
            <a:r>
              <a:rPr lang="ru-RU" dirty="0">
                <a:latin typeface="PT Serif" panose="020A0603040505020204" pitchFamily="18" charset="0"/>
              </a:rPr>
              <a:t>Отец – Алексей Михайлович</a:t>
            </a:r>
          </a:p>
          <a:p>
            <a:r>
              <a:rPr lang="ru-RU" dirty="0">
                <a:latin typeface="PT Serif" panose="020A0603040505020204" pitchFamily="18" charset="0"/>
              </a:rPr>
              <a:t>Мать – Мария Ильинична Милославская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D2C7DA-BB54-7048-E9BE-6CD91A8F1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652" y="-15936"/>
            <a:ext cx="4914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40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616541" cy="678096"/>
          </a:xfrm>
        </p:spPr>
        <p:txBody>
          <a:bodyPr>
            <a:normAutofit/>
          </a:bodyPr>
          <a:lstStyle/>
          <a:p>
            <a:pPr algn="l"/>
            <a:r>
              <a:rPr lang="ru-RU" sz="4000" b="1" dirty="0">
                <a:latin typeface="PT Serif" panose="020A0603040505020204" pitchFamily="18" charset="0"/>
              </a:rPr>
              <a:t>ВОЦАРЕНИЕ ПЕТРА </a:t>
            </a:r>
            <a:r>
              <a:rPr lang="en-US" sz="4000" b="1" dirty="0">
                <a:latin typeface="PT Serif" panose="020A0603040505020204" pitchFamily="18" charset="0"/>
              </a:rPr>
              <a:t>I</a:t>
            </a:r>
            <a:endParaRPr lang="ru-RU" sz="4000" b="1" dirty="0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75A3E-5FE2-7703-9502-2225E96EA5F1}"/>
              </a:ext>
            </a:extLst>
          </p:cNvPr>
          <p:cNvSpPr txBox="1"/>
          <p:nvPr/>
        </p:nvSpPr>
        <p:spPr>
          <a:xfrm>
            <a:off x="373293" y="1289406"/>
            <a:ext cx="66736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Потешные полки Петра Алексеевича</a:t>
            </a:r>
          </a:p>
          <a:p>
            <a:r>
              <a:rPr lang="ru-RU" dirty="0">
                <a:latin typeface="PT Serif" panose="020A0603040505020204" pitchFamily="18" charset="0"/>
              </a:rPr>
              <a:t>Преображенский полк</a:t>
            </a:r>
          </a:p>
          <a:p>
            <a:r>
              <a:rPr lang="ru-RU" dirty="0">
                <a:latin typeface="PT Serif" panose="020A0603040505020204" pitchFamily="18" charset="0"/>
              </a:rPr>
              <a:t>Семеновский полк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1686 – «Вечный мир» с Речью Посполитой (Польшей)</a:t>
            </a:r>
          </a:p>
          <a:p>
            <a:r>
              <a:rPr lang="ru-RU" dirty="0">
                <a:latin typeface="PT Serif" panose="020A0603040505020204" pitchFamily="18" charset="0"/>
              </a:rPr>
              <a:t>Подтверждение </a:t>
            </a:r>
            <a:r>
              <a:rPr lang="ru-RU" dirty="0" err="1">
                <a:latin typeface="PT Serif" panose="020A0603040505020204" pitchFamily="18" charset="0"/>
              </a:rPr>
              <a:t>Андрусовского</a:t>
            </a:r>
            <a:r>
              <a:rPr lang="ru-RU" dirty="0">
                <a:latin typeface="PT Serif" panose="020A0603040505020204" pitchFamily="18" charset="0"/>
              </a:rPr>
              <a:t> перемирия 1667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1687, 1689 – Крымские походы князя Василия Голицына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1689 – низложение царевны Софьи</a:t>
            </a:r>
          </a:p>
          <a:p>
            <a:r>
              <a:rPr lang="ru-RU" dirty="0">
                <a:latin typeface="PT Serif" panose="020A0603040505020204" pitchFamily="18" charset="0"/>
              </a:rPr>
              <a:t>Начало единоличного правления Петра </a:t>
            </a:r>
            <a:r>
              <a:rPr lang="en-US" dirty="0">
                <a:latin typeface="PT Serif" panose="020A0603040505020204" pitchFamily="18" charset="0"/>
              </a:rPr>
              <a:t>I</a:t>
            </a:r>
            <a:r>
              <a:rPr lang="ru-RU" dirty="0">
                <a:latin typeface="PT Serif" panose="020A0603040505020204" pitchFamily="18" charset="0"/>
              </a:rPr>
              <a:t> (совместно с Иваном </a:t>
            </a:r>
            <a:r>
              <a:rPr lang="en-US" dirty="0">
                <a:latin typeface="PT Serif" panose="020A0603040505020204" pitchFamily="18" charset="0"/>
              </a:rPr>
              <a:t>V)</a:t>
            </a:r>
            <a:endParaRPr lang="ru-RU" dirty="0">
              <a:latin typeface="PT Serif" panose="020A0603040505020204" pitchFamily="18" charset="0"/>
            </a:endParaRP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1695-96 – Азовские походы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1696 – решение Боярской дума «Морским судам быть»</a:t>
            </a:r>
          </a:p>
          <a:p>
            <a:r>
              <a:rPr lang="ru-RU" dirty="0">
                <a:latin typeface="PT Serif" panose="020A0603040505020204" pitchFamily="18" charset="0"/>
              </a:rPr>
              <a:t>Основание российского Военно-Морского Флота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136EE9-999F-83EF-3D5E-55A8D6865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448" y="0"/>
            <a:ext cx="5015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02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051461" cy="1017142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>
                <a:latin typeface="PT Serif" panose="020A0603040505020204" pitchFamily="18" charset="0"/>
              </a:rPr>
              <a:t>ВЕЛИКОЕ ПОСОЛЬСТВО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B73E7-E47F-9749-433A-5466A50EE7E2}"/>
              </a:ext>
            </a:extLst>
          </p:cNvPr>
          <p:cNvSpPr txBox="1"/>
          <p:nvPr/>
        </p:nvSpPr>
        <p:spPr>
          <a:xfrm>
            <a:off x="373293" y="1530849"/>
            <a:ext cx="639395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1697-98 – дипломатическая миссия Петра </a:t>
            </a:r>
            <a:r>
              <a:rPr lang="en-US" b="1" dirty="0">
                <a:latin typeface="PT Serif" panose="020A0603040505020204" pitchFamily="18" charset="0"/>
              </a:rPr>
              <a:t>I</a:t>
            </a:r>
            <a:r>
              <a:rPr lang="ru-RU" b="1" dirty="0">
                <a:latin typeface="PT Serif" panose="020A0603040505020204" pitchFamily="18" charset="0"/>
              </a:rPr>
              <a:t> в Европу</a:t>
            </a:r>
            <a:endParaRPr lang="en-US" b="1" dirty="0">
              <a:latin typeface="PT Serif" panose="020A0603040505020204" pitchFamily="18" charset="0"/>
            </a:endParaRP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Задачи:</a:t>
            </a:r>
          </a:p>
          <a:p>
            <a:r>
              <a:rPr lang="ru-RU" dirty="0">
                <a:latin typeface="PT Serif" panose="020A0603040505020204" pitchFamily="18" charset="0"/>
              </a:rPr>
              <a:t>-Союз против Османской империи (Турция)</a:t>
            </a:r>
          </a:p>
          <a:p>
            <a:r>
              <a:rPr lang="ru-RU" dirty="0">
                <a:latin typeface="PT Serif" panose="020A0603040505020204" pitchFamily="18" charset="0"/>
              </a:rPr>
              <a:t>-Наем иностранных специалистов</a:t>
            </a:r>
          </a:p>
          <a:p>
            <a:r>
              <a:rPr lang="ru-RU" dirty="0">
                <a:latin typeface="PT Serif" panose="020A0603040505020204" pitchFamily="18" charset="0"/>
              </a:rPr>
              <a:t>-Приобретение передовых технологий, вооружения</a:t>
            </a:r>
          </a:p>
          <a:p>
            <a:r>
              <a:rPr lang="ru-RU" dirty="0">
                <a:latin typeface="PT Serif" panose="020A0603040505020204" pitchFamily="18" charset="0"/>
              </a:rPr>
              <a:t>-Знакомство с жизнью и порядками европейских держав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Великие послы:</a:t>
            </a:r>
          </a:p>
          <a:p>
            <a:r>
              <a:rPr lang="ru-RU" dirty="0">
                <a:latin typeface="PT Serif" panose="020A0603040505020204" pitchFamily="18" charset="0"/>
              </a:rPr>
              <a:t>-Франц Лефорт</a:t>
            </a:r>
          </a:p>
          <a:p>
            <a:r>
              <a:rPr lang="ru-RU" dirty="0">
                <a:latin typeface="PT Serif" panose="020A0603040505020204" pitchFamily="18" charset="0"/>
              </a:rPr>
              <a:t>-Федор Головин</a:t>
            </a:r>
          </a:p>
          <a:p>
            <a:r>
              <a:rPr lang="ru-RU" dirty="0">
                <a:latin typeface="PT Serif" panose="020A0603040505020204" pitchFamily="18" charset="0"/>
              </a:rPr>
              <a:t>-Прокофий Возницын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Петр </a:t>
            </a:r>
            <a:r>
              <a:rPr lang="en-US" b="1" dirty="0">
                <a:latin typeface="PT Serif" panose="020A0603040505020204" pitchFamily="18" charset="0"/>
              </a:rPr>
              <a:t>I</a:t>
            </a:r>
            <a:r>
              <a:rPr lang="ru-RU" b="1" dirty="0">
                <a:latin typeface="PT Serif" panose="020A0603040505020204" pitchFamily="18" charset="0"/>
              </a:rPr>
              <a:t> путешествовал инкогнито под именем Петр Михайлов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Посетили: </a:t>
            </a:r>
            <a:r>
              <a:rPr lang="ru-RU" dirty="0">
                <a:latin typeface="PT Serif" panose="020A0603040505020204" pitchFamily="18" charset="0"/>
              </a:rPr>
              <a:t>Польшу, Пруссию, Саксонию, Голландию, Англию, Австрию и т.д.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8CA51B-CF80-8AF8-1D99-352F31A7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48" y="0"/>
            <a:ext cx="542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93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051461" cy="1017142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>
                <a:latin typeface="PT Serif" panose="020A0603040505020204" pitchFamily="18" charset="0"/>
              </a:rPr>
              <a:t>ВЕЛИКАЯ СЕВЕРНАЯ ВОЙНА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B84570-52A0-2264-1A7B-3E2570D3A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988" y="0"/>
            <a:ext cx="672001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B78589-BC18-6BD3-76D5-2EC48073C5C6}"/>
              </a:ext>
            </a:extLst>
          </p:cNvPr>
          <p:cNvSpPr txBox="1"/>
          <p:nvPr/>
        </p:nvSpPr>
        <p:spPr>
          <a:xfrm>
            <a:off x="373293" y="1530849"/>
            <a:ext cx="50514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T Serif" panose="020A0603040505020204" pitchFamily="18" charset="0"/>
              </a:rPr>
              <a:t>1700-1721 – </a:t>
            </a:r>
            <a:r>
              <a:rPr lang="ru-RU" b="1" dirty="0">
                <a:latin typeface="PT Serif" panose="020A0603040505020204" pitchFamily="18" charset="0"/>
              </a:rPr>
              <a:t>война между Швецией и странами Северной Европы (Россия, Дания, Польша, Саксония)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19 ноября 1700 – битва при Нарве</a:t>
            </a:r>
          </a:p>
          <a:p>
            <a:r>
              <a:rPr lang="ru-RU" b="1" dirty="0">
                <a:latin typeface="PT Serif" panose="020A0603040505020204" pitchFamily="18" charset="0"/>
              </a:rPr>
              <a:t>Поражение русских войск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1702 – взятие Нотебурга (крепость Орешек)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1703 – взятие Ниеншанц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16 мая 1703 – основание Санкт-Петербурга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1704 – взятие Нарвы</a:t>
            </a:r>
          </a:p>
        </p:txBody>
      </p:sp>
    </p:spTree>
    <p:extLst>
      <p:ext uri="{BB962C8B-B14F-4D97-AF65-F5344CB8AC3E}">
        <p14:creationId xmlns:p14="http://schemas.microsoft.com/office/powerpoint/2010/main" val="4117912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051461" cy="1017142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>
                <a:latin typeface="PT Serif" panose="020A0603040505020204" pitchFamily="18" charset="0"/>
              </a:rPr>
              <a:t>ВЕЛИКАЯ СЕВЕРНАЯ ВОЙНА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B84570-52A0-2264-1A7B-3E2570D3A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988" y="0"/>
            <a:ext cx="672001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B78589-BC18-6BD3-76D5-2EC48073C5C6}"/>
              </a:ext>
            </a:extLst>
          </p:cNvPr>
          <p:cNvSpPr txBox="1"/>
          <p:nvPr/>
        </p:nvSpPr>
        <p:spPr>
          <a:xfrm>
            <a:off x="373293" y="1530849"/>
            <a:ext cx="50514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1708-1709 – «Русский поход» Карла </a:t>
            </a:r>
            <a:r>
              <a:rPr lang="en-US" b="1" dirty="0">
                <a:latin typeface="PT Serif" panose="020A0603040505020204" pitchFamily="18" charset="0"/>
              </a:rPr>
              <a:t>XII</a:t>
            </a:r>
            <a:endParaRPr lang="ru-RU" b="1" dirty="0">
              <a:latin typeface="PT Serif" panose="020A0603040505020204" pitchFamily="18" charset="0"/>
            </a:endParaRP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28 сентября 1708 – битва у Лесной</a:t>
            </a:r>
          </a:p>
          <a:p>
            <a:r>
              <a:rPr lang="ru-RU" dirty="0">
                <a:latin typeface="PT Serif" panose="020A0603040505020204" pitchFamily="18" charset="0"/>
              </a:rPr>
              <a:t>Разгром шведского корпуса </a:t>
            </a:r>
            <a:r>
              <a:rPr lang="ru-RU" dirty="0" err="1">
                <a:latin typeface="PT Serif" panose="020A0603040505020204" pitchFamily="18" charset="0"/>
              </a:rPr>
              <a:t>Левенгаупта</a:t>
            </a:r>
            <a:endParaRPr lang="ru-RU" dirty="0">
              <a:latin typeface="PT Serif" panose="020A0603040505020204" pitchFamily="18" charset="0"/>
            </a:endParaRP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30 июня 1709  – Полтавская баталия</a:t>
            </a:r>
          </a:p>
          <a:p>
            <a:r>
              <a:rPr lang="ru-RU" dirty="0">
                <a:latin typeface="PT Serif" panose="020A0603040505020204" pitchFamily="18" charset="0"/>
              </a:rPr>
              <a:t>Полный разгром шведской армии и бегство Карла </a:t>
            </a:r>
            <a:r>
              <a:rPr lang="en-US" dirty="0">
                <a:latin typeface="PT Serif" panose="020A0603040505020204" pitchFamily="18" charset="0"/>
              </a:rPr>
              <a:t>XII </a:t>
            </a:r>
            <a:r>
              <a:rPr lang="ru-RU" dirty="0">
                <a:latin typeface="PT Serif" panose="020A0603040505020204" pitchFamily="18" charset="0"/>
              </a:rPr>
              <a:t>в Турцию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1711 – Прутский поход против Турции</a:t>
            </a:r>
          </a:p>
          <a:p>
            <a:r>
              <a:rPr lang="ru-RU" dirty="0">
                <a:latin typeface="PT Serif" panose="020A0603040505020204" pitchFamily="18" charset="0"/>
              </a:rPr>
              <a:t>Поражение русской армии</a:t>
            </a:r>
          </a:p>
          <a:p>
            <a:endParaRPr lang="en-US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27 июля </a:t>
            </a:r>
            <a:r>
              <a:rPr lang="en-US" b="1" dirty="0">
                <a:latin typeface="PT Serif" panose="020A0603040505020204" pitchFamily="18" charset="0"/>
              </a:rPr>
              <a:t>1714 – </a:t>
            </a:r>
            <a:r>
              <a:rPr lang="ru-RU" b="1" dirty="0" err="1">
                <a:latin typeface="PT Serif" panose="020A0603040505020204" pitchFamily="18" charset="0"/>
              </a:rPr>
              <a:t>Гангутское</a:t>
            </a:r>
            <a:r>
              <a:rPr lang="ru-RU" b="1" dirty="0">
                <a:latin typeface="PT Serif" panose="020A0603040505020204" pitchFamily="18" charset="0"/>
              </a:rPr>
              <a:t> сражение</a:t>
            </a:r>
          </a:p>
          <a:p>
            <a:r>
              <a:rPr lang="ru-RU" dirty="0">
                <a:latin typeface="PT Serif" panose="020A0603040505020204" pitchFamily="18" charset="0"/>
              </a:rPr>
              <a:t>Победа русского флота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27 июля 1720 – Сражение при </a:t>
            </a:r>
            <a:r>
              <a:rPr lang="ru-RU" b="1" dirty="0" err="1">
                <a:latin typeface="PT Serif" panose="020A0603040505020204" pitchFamily="18" charset="0"/>
              </a:rPr>
              <a:t>Гренгаме</a:t>
            </a:r>
            <a:endParaRPr lang="ru-RU" b="1" dirty="0">
              <a:latin typeface="PT Serif" panose="020A0603040505020204" pitchFamily="18" charset="0"/>
            </a:endParaRPr>
          </a:p>
          <a:p>
            <a:r>
              <a:rPr lang="ru-RU" dirty="0">
                <a:latin typeface="PT Serif" panose="020A0603040505020204" pitchFamily="18" charset="0"/>
              </a:rPr>
              <a:t>Победа русского флота</a:t>
            </a:r>
          </a:p>
        </p:txBody>
      </p:sp>
    </p:spTree>
    <p:extLst>
      <p:ext uri="{BB962C8B-B14F-4D97-AF65-F5344CB8AC3E}">
        <p14:creationId xmlns:p14="http://schemas.microsoft.com/office/powerpoint/2010/main" val="1100961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051461" cy="1017142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>
                <a:latin typeface="PT Serif" panose="020A0603040505020204" pitchFamily="18" charset="0"/>
              </a:rPr>
              <a:t>ВЕЛИКАЯ СЕВЕРНАЯ ВОЙНА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78589-BC18-6BD3-76D5-2EC48073C5C6}"/>
              </a:ext>
            </a:extLst>
          </p:cNvPr>
          <p:cNvSpPr txBox="1"/>
          <p:nvPr/>
        </p:nvSpPr>
        <p:spPr>
          <a:xfrm>
            <a:off x="373293" y="1530849"/>
            <a:ext cx="50514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30 августа 1721 – </a:t>
            </a:r>
            <a:r>
              <a:rPr lang="ru-RU" b="1" dirty="0" err="1">
                <a:latin typeface="PT Serif" panose="020A0603040505020204" pitchFamily="18" charset="0"/>
              </a:rPr>
              <a:t>Ништадский</a:t>
            </a:r>
            <a:r>
              <a:rPr lang="ru-RU" b="1" dirty="0">
                <a:latin typeface="PT Serif" panose="020A0603040505020204" pitchFamily="18" charset="0"/>
              </a:rPr>
              <a:t> мирный договор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Ключевые итоги:</a:t>
            </a:r>
          </a:p>
          <a:p>
            <a:r>
              <a:rPr lang="ru-RU" dirty="0">
                <a:latin typeface="PT Serif" panose="020A0603040505020204" pitchFamily="18" charset="0"/>
              </a:rPr>
              <a:t>-получение Россией Лифляндии, </a:t>
            </a:r>
            <a:r>
              <a:rPr lang="ru-RU" dirty="0" err="1">
                <a:latin typeface="PT Serif" panose="020A0603040505020204" pitchFamily="18" charset="0"/>
              </a:rPr>
              <a:t>Эстляндии</a:t>
            </a:r>
            <a:r>
              <a:rPr lang="ru-RU" dirty="0">
                <a:latin typeface="PT Serif" panose="020A0603040505020204" pitchFamily="18" charset="0"/>
              </a:rPr>
              <a:t>, </a:t>
            </a:r>
            <a:r>
              <a:rPr lang="ru-RU" dirty="0" err="1">
                <a:latin typeface="PT Serif" panose="020A0603040505020204" pitchFamily="18" charset="0"/>
              </a:rPr>
              <a:t>Ингерманладии</a:t>
            </a:r>
            <a:r>
              <a:rPr lang="ru-RU" dirty="0">
                <a:latin typeface="PT Serif" panose="020A0603040505020204" pitchFamily="18" charset="0"/>
              </a:rPr>
              <a:t>, Карелии</a:t>
            </a:r>
          </a:p>
          <a:p>
            <a:r>
              <a:rPr lang="ru-RU" dirty="0">
                <a:latin typeface="PT Serif" panose="020A0603040505020204" pitchFamily="18" charset="0"/>
              </a:rPr>
              <a:t>-превращение России в великую державу</a:t>
            </a:r>
          </a:p>
          <a:p>
            <a:r>
              <a:rPr lang="ru-RU" dirty="0">
                <a:latin typeface="PT Serif" panose="020A0603040505020204" pitchFamily="18" charset="0"/>
              </a:rPr>
              <a:t>-утверждении в России абсолютной монархии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22 октября 1721 – принятие Петром </a:t>
            </a:r>
            <a:r>
              <a:rPr lang="en-US" b="1" dirty="0">
                <a:latin typeface="PT Serif" panose="020A0603040505020204" pitchFamily="18" charset="0"/>
              </a:rPr>
              <a:t>I</a:t>
            </a:r>
            <a:r>
              <a:rPr lang="ru-RU" b="1" dirty="0">
                <a:latin typeface="PT Serif" panose="020A0603040505020204" pitchFamily="18" charset="0"/>
              </a:rPr>
              <a:t> титулов Великий, Император Всероссийский, Отца Отечества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D021A1-41C5-EE67-C4A7-9897438CA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441" y="0"/>
            <a:ext cx="4765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48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B03F-E8CC-6DE5-B7A3-B835D6BB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93" y="513707"/>
            <a:ext cx="5051461" cy="657548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>
                <a:latin typeface="PT Serif" panose="020A0603040505020204" pitchFamily="18" charset="0"/>
              </a:rPr>
              <a:t>РЕФОРМЫ ПЕТРА </a:t>
            </a:r>
            <a:r>
              <a:rPr lang="en-US" sz="3600" b="1" dirty="0">
                <a:latin typeface="PT Serif" panose="020A0603040505020204" pitchFamily="18" charset="0"/>
              </a:rPr>
              <a:t>I</a:t>
            </a:r>
            <a:endParaRPr lang="ru-RU" sz="3600" b="1" dirty="0">
              <a:latin typeface="PT Serif" panose="020A060304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8CF87-1CB3-BB86-4DB0-F95BFFB0D83C}"/>
              </a:ext>
            </a:extLst>
          </p:cNvPr>
          <p:cNvSpPr txBox="1"/>
          <p:nvPr/>
        </p:nvSpPr>
        <p:spPr>
          <a:xfrm>
            <a:off x="373293" y="1530849"/>
            <a:ext cx="50514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Государственного аппарата</a:t>
            </a:r>
          </a:p>
          <a:p>
            <a:r>
              <a:rPr lang="ru-RU" dirty="0">
                <a:latin typeface="PT Serif" panose="020A0603040505020204" pitchFamily="18" charset="0"/>
              </a:rPr>
              <a:t>-упразднение Боярской думы (1708)</a:t>
            </a:r>
          </a:p>
          <a:p>
            <a:r>
              <a:rPr lang="ru-RU" dirty="0">
                <a:latin typeface="PT Serif" panose="020A0603040505020204" pitchFamily="18" charset="0"/>
              </a:rPr>
              <a:t>-учреждение Правительствующего сената (22 февраля 1711)</a:t>
            </a:r>
          </a:p>
          <a:p>
            <a:r>
              <a:rPr lang="ru-RU" dirty="0">
                <a:latin typeface="PT Serif" panose="020A0603040505020204" pitchFamily="18" charset="0"/>
              </a:rPr>
              <a:t>-учреждение Коллегий (1717-1721): иностранных дел, военная, адмиралтейств, вотчинная, камер, </a:t>
            </a:r>
            <a:r>
              <a:rPr lang="ru-RU" dirty="0" err="1">
                <a:latin typeface="PT Serif" panose="020A0603040505020204" pitchFamily="18" charset="0"/>
              </a:rPr>
              <a:t>штатс</a:t>
            </a:r>
            <a:r>
              <a:rPr lang="ru-RU" dirty="0">
                <a:latin typeface="PT Serif" panose="020A0603040505020204" pitchFamily="18" charset="0"/>
              </a:rPr>
              <a:t>-контор, мануфактур и др.</a:t>
            </a:r>
          </a:p>
          <a:p>
            <a:r>
              <a:rPr lang="ru-RU" dirty="0">
                <a:latin typeface="PT Serif" panose="020A0603040505020204" pitchFamily="18" charset="0"/>
              </a:rPr>
              <a:t>-введение Генерального регламента (28 февраля 1720)</a:t>
            </a:r>
          </a:p>
          <a:p>
            <a:r>
              <a:rPr lang="ru-RU" dirty="0">
                <a:latin typeface="PT Serif" panose="020A0603040505020204" pitchFamily="18" charset="0"/>
              </a:rPr>
              <a:t>-упразднение патриаршества и учреждение Святейшего синода (1700, 1721)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Преобразования в промышленности</a:t>
            </a:r>
          </a:p>
          <a:p>
            <a:r>
              <a:rPr lang="ru-RU" dirty="0">
                <a:latin typeface="PT Serif" panose="020A0603040505020204" pitchFamily="18" charset="0"/>
              </a:rPr>
              <a:t>Создание мануфактур, разработка новых месторождений, строительство каналов, портов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01844-1CC6-4CA9-FE04-5D9BD6AE2D81}"/>
              </a:ext>
            </a:extLst>
          </p:cNvPr>
          <p:cNvSpPr txBox="1"/>
          <p:nvPr/>
        </p:nvSpPr>
        <p:spPr>
          <a:xfrm>
            <a:off x="6767248" y="1530849"/>
            <a:ext cx="50514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T Serif" panose="020A0603040505020204" pitchFamily="18" charset="0"/>
              </a:rPr>
              <a:t>Областная реформа (1708-1711)</a:t>
            </a:r>
          </a:p>
          <a:p>
            <a:r>
              <a:rPr lang="ru-RU" dirty="0">
                <a:latin typeface="PT Serif" panose="020A0603040505020204" pitchFamily="18" charset="0"/>
              </a:rPr>
              <a:t>Разделение страны на 8 губерний во главе с губернаторами</a:t>
            </a:r>
          </a:p>
          <a:p>
            <a:endParaRPr lang="ru-RU" b="1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Финансовые реформы</a:t>
            </a:r>
          </a:p>
          <a:p>
            <a:r>
              <a:rPr lang="ru-RU" dirty="0">
                <a:latin typeface="PT Serif" panose="020A0603040505020204" pitchFamily="18" charset="0"/>
              </a:rPr>
              <a:t>Подушная подать (1718-1722), денежная реформа, новые налоги, единонаследие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Календарная реформа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Реформа образования</a:t>
            </a:r>
          </a:p>
          <a:p>
            <a:r>
              <a:rPr lang="ru-RU" dirty="0">
                <a:latin typeface="PT Serif" panose="020A0603040505020204" pitchFamily="18" charset="0"/>
              </a:rPr>
              <a:t>Школа математических и </a:t>
            </a:r>
            <a:r>
              <a:rPr lang="ru-RU" dirty="0" err="1">
                <a:latin typeface="PT Serif" panose="020A0603040505020204" pitchFamily="18" charset="0"/>
              </a:rPr>
              <a:t>навигацких</a:t>
            </a:r>
            <a:r>
              <a:rPr lang="ru-RU" dirty="0">
                <a:latin typeface="PT Serif" panose="020A0603040505020204" pitchFamily="18" charset="0"/>
              </a:rPr>
              <a:t> наук (1701), артиллерийские, инженерные, медицинские, цифирные школы, Академия наук (1724)</a:t>
            </a:r>
          </a:p>
          <a:p>
            <a:endParaRPr lang="ru-RU" dirty="0">
              <a:latin typeface="PT Serif" panose="020A0603040505020204" pitchFamily="18" charset="0"/>
            </a:endParaRPr>
          </a:p>
          <a:p>
            <a:r>
              <a:rPr lang="ru-RU" b="1" dirty="0">
                <a:latin typeface="PT Serif" panose="020A0603040505020204" pitchFamily="18" charset="0"/>
              </a:rPr>
              <a:t>Новая культура</a:t>
            </a:r>
          </a:p>
        </p:txBody>
      </p:sp>
    </p:spTree>
    <p:extLst>
      <p:ext uri="{BB962C8B-B14F-4D97-AF65-F5344CB8AC3E}">
        <p14:creationId xmlns:p14="http://schemas.microsoft.com/office/powerpoint/2010/main" val="33045152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1565</Words>
  <Application>Microsoft Office PowerPoint</Application>
  <PresentationFormat>Широкоэкранный</PresentationFormat>
  <Paragraphs>253</Paragraphs>
  <Slides>31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PT Serif</vt:lpstr>
      <vt:lpstr>Times New Roman</vt:lpstr>
      <vt:lpstr>Тема Office</vt:lpstr>
      <vt:lpstr>ИСТОРИЯ РОССИИ в XVII – первой половине XVIII вв.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Курс на примирение в разорённой Смутой стране, дальнейшая централизация власти и упорядочение системы государственного управления.</vt:lpstr>
      <vt:lpstr>Восстановление экономики</vt:lpstr>
      <vt:lpstr>Реорганизация и укрепление армии </vt:lpstr>
      <vt:lpstr>Внешняя политика</vt:lpstr>
      <vt:lpstr>Презентация PowerPoint</vt:lpstr>
      <vt:lpstr>Итоги правления</vt:lpstr>
      <vt:lpstr>Презентация PowerPoint</vt:lpstr>
      <vt:lpstr>Презентация PowerPoint</vt:lpstr>
      <vt:lpstr>Политический строй</vt:lpstr>
      <vt:lpstr>Презентация PowerPoint</vt:lpstr>
      <vt:lpstr>Презентация PowerPoint</vt:lpstr>
      <vt:lpstr>«Соборное уложение»</vt:lpstr>
      <vt:lpstr>Соборное Уложение 1649г.</vt:lpstr>
      <vt:lpstr>Презентация PowerPoint</vt:lpstr>
      <vt:lpstr>«Переяславская рада»</vt:lpstr>
      <vt:lpstr>Церковный раскол</vt:lpstr>
      <vt:lpstr>Фёдор Алексеевич (1676 – 1682 гг.)</vt:lpstr>
      <vt:lpstr>ВОЦАРЕНИЕ ПЕТРА I</vt:lpstr>
      <vt:lpstr>ВОЦАРЕНИЕ ПЕТРА I</vt:lpstr>
      <vt:lpstr>ВЕЛИКОЕ ПОСОЛЬСТВО</vt:lpstr>
      <vt:lpstr>ВЕЛИКАЯ СЕВЕРНАЯ ВОЙНА</vt:lpstr>
      <vt:lpstr>ВЕЛИКАЯ СЕВЕРНАЯ ВОЙНА</vt:lpstr>
      <vt:lpstr>ВЕЛИКАЯ СЕВЕРНАЯ ВОЙНА</vt:lpstr>
      <vt:lpstr>РЕФОРМЫ ПЕТРА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 XVIII ВЕК</dc:title>
  <dc:creator>Peterhof-Publish</dc:creator>
  <cp:lastModifiedBy>Дмитрий Вычеров</cp:lastModifiedBy>
  <cp:revision>23</cp:revision>
  <dcterms:created xsi:type="dcterms:W3CDTF">2023-09-11T07:38:25Z</dcterms:created>
  <dcterms:modified xsi:type="dcterms:W3CDTF">2026-09-27T22:39:59Z</dcterms:modified>
</cp:coreProperties>
</file>